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8" r:id="rId2"/>
    <p:sldId id="261" r:id="rId3"/>
    <p:sldId id="307" r:id="rId4"/>
    <p:sldId id="268" r:id="rId5"/>
    <p:sldId id="292" r:id="rId6"/>
    <p:sldId id="293" r:id="rId7"/>
    <p:sldId id="294" r:id="rId8"/>
    <p:sldId id="295" r:id="rId9"/>
    <p:sldId id="271" r:id="rId10"/>
    <p:sldId id="306" r:id="rId11"/>
    <p:sldId id="305" r:id="rId12"/>
    <p:sldId id="296" r:id="rId13"/>
    <p:sldId id="297" r:id="rId14"/>
    <p:sldId id="298" r:id="rId15"/>
    <p:sldId id="299" r:id="rId16"/>
    <p:sldId id="273" r:id="rId17"/>
    <p:sldId id="300" r:id="rId18"/>
    <p:sldId id="301" r:id="rId19"/>
    <p:sldId id="302" r:id="rId20"/>
    <p:sldId id="267" r:id="rId21"/>
    <p:sldId id="275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232" y="81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120" y="176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1" name="Grafik 10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2AF0DD28-B2CE-3D7D-A980-83A83FB92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B9C558AE-3D95-85D6-BE67-87AAA8C3FB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B5000F05-E03B-8EA5-843B-5F11B08A6950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6E28D5A8-D93F-41C8-A46B-F6C80F442039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1700" y="2957494"/>
            <a:ext cx="6748463" cy="2268000"/>
          </a:xfrm>
          <a:noFill/>
        </p:spPr>
        <p:txBody>
          <a:bodyPr lIns="324000" tIns="252000" anchor="t" anchorCtr="0"/>
          <a:lstStyle>
            <a:lvl1pPr marL="0" indent="0" algn="r">
              <a:lnSpc>
                <a:spcPct val="100000"/>
              </a:lnSpc>
              <a:tabLst>
                <a:tab pos="5330825" algn="l"/>
              </a:tabLst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4" name="Grafik 3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59AAE100-D558-2F95-99E4-24C860CC3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6AA431-6F39-0A36-EFBC-917E90AC31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B18F9C2-0830-A112-0D39-1A28C61CAD3F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B80C7786-D328-0AD3-04DD-75AA760B5627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0" y="981075"/>
            <a:ext cx="12192000" cy="58769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1940405"/>
            <a:ext cx="10188000" cy="3420000"/>
          </a:xfrm>
          <a:noFill/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2">
                    <a:lumMod val="50000"/>
                    <a:lumOff val="50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17A803B1-7857-0041-636A-CF66FEDE7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06841325-6498-63BB-3D52-5C49213180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CF27D4C-216F-AEA8-D2DC-E5C48D408E06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E229E29-ADBA-D7CA-AE17-D5F95C7301D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981075"/>
            <a:ext cx="12192000" cy="5876925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324000" tIns="1152000" anchor="t" anchorCtr="0"/>
          <a:lstStyle>
            <a:lvl1pPr marL="715963" indent="0" algn="l">
              <a:lnSpc>
                <a:spcPct val="100000"/>
              </a:lnSpc>
              <a:tabLst/>
              <a:defRPr sz="3600" b="1" i="0">
                <a:solidFill>
                  <a:schemeClr val="bg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2" name="Grafik 11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239C8021-26BF-55BF-E7D4-82AA347361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BBCE1D78-C4C1-87AB-5AF3-70F7B33615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04DB9638-A28E-ED6C-FCF3-500C8DE2A833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0C2809-94E1-DCFC-5BFF-337A25535A7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13" y="981075"/>
            <a:ext cx="12192000" cy="5876925"/>
          </a:xfrm>
          <a:solidFill>
            <a:schemeClr val="accent4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bg1">
                    <a:lumMod val="85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8C7E0667-295A-59E1-6439-989321F6C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28EACF6A-25CB-0E99-4882-14EBC5A62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06BE817E-CBF8-CFBA-5CFF-FBC908E88A41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200679E-815C-CEF1-C5BC-4ABA272037AB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17" y="260350"/>
            <a:ext cx="10764846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17" y="1412874"/>
            <a:ext cx="10764846" cy="4787901"/>
          </a:xfrm>
        </p:spPr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987E54B-243E-DCEB-BB23-FFD892CD6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41D3E3B-478A-A199-E995-7836BC2D3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CFA6946E-EBB3-5228-0295-9A54C8FF0DC9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53AC6433-63BA-744C-EC49-97CDB00FD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6A86D8EF-771B-5664-CDD0-A97846A7A514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4"/>
            <a:ext cx="10764838" cy="4787901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7911EDDC-F991-0B54-F00E-6EDC20765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805E7F19-F1A7-9E5C-314F-966B42A79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B3EAD8C-B242-CAB2-3A5E-26D842AFC9BE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3EE29F1C-A549-F27E-C1AB-481DA180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9B3D765-C985-F349-3411-C50A1E0DA65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5"/>
            <a:ext cx="10764837" cy="396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5570136"/>
            <a:ext cx="3276600" cy="63064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D20AE086-0D12-14CA-88B8-ED342AB5E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93521BFF-9CE3-656F-D395-CEBC1E15E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FAC5D8AD-C45B-EC67-BFB5-3E8B990703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3363" y="6073796"/>
            <a:ext cx="2016125" cy="126979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3FBE70C-76D9-00B5-47FA-089EF4C4060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D2FF599-E8FE-7548-ADEC-1CE7D680A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7B80F223-188B-63C5-5464-25AF0E9F0D3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813C459-DBFD-1C4D-9DF2-DB19AB81E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82CDA31-90C0-7496-A96C-3C5B16694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0332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bg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45A9084-A505-E42E-3105-FD31E1480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0C9CA39F-D87E-34A6-E5C7-8534CDE47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DABAAACC-625D-7EB1-E68A-ADAA3EE32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96B85359-815E-F7B4-D6F3-F6A5DDEAD1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7F87F22-3EBD-59E1-AA19-658F35796AF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13E914D-4CB5-E955-CCBA-1EE49FA5C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EE9FD07A-5057-5CC6-09A1-BF0007C2D2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8E7AADFE-4398-4151-85F8-BC1F374A0F2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5EAC5B1-DB4A-4742-5BCF-733787633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25831A1-A84F-D57C-1ED8-313EA5EAD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927A3093-8F2D-5855-512A-56D1E1BE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BB7EBA-D570-4721-66DA-FBFA7169D6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AC930669-B835-A263-87FE-86C14449A29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162" y="260351"/>
            <a:ext cx="5256000" cy="90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6"/>
            <a:ext cx="5256000" cy="38170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4162" y="5300776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03950" y="6051188"/>
            <a:ext cx="2016125" cy="116834"/>
          </a:xfrm>
        </p:spPr>
        <p:txBody>
          <a:bodyPr anchor="b" anchorCtr="0"/>
          <a:lstStyle>
            <a:lvl1pPr marL="179388" indent="-179388" algn="l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4762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59159"/>
            <a:ext cx="5256000" cy="900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45793"/>
            <a:ext cx="5256000" cy="3817098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5298013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35200" y="6071607"/>
            <a:ext cx="2016125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7861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6200775"/>
          </a:xfrm>
          <a:solidFill>
            <a:schemeClr val="accent3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7" y="1"/>
            <a:ext cx="6052565" cy="306008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9437" y="3141663"/>
            <a:ext cx="6052564" cy="30591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B6F96EA5-B60E-261A-6788-34FDBD29E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D07EB7AD-64D1-1928-3F72-C4C06DA2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59048499-57EC-90A1-28B4-1CCC95958C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8926" y="608361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5474DE63-F54A-F53D-8F87-61BA0DC46F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0076" y="292562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0ED44574-4027-8375-3D67-E009446D41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19401" y="6069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C834646D-DFA5-982A-60BA-D0A93033A4C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0A608C00-7756-294A-9F09-AD4A4BE67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557A9A8-2D4D-2A87-F316-7BF0251C76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0597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7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0"/>
            <a:ext cx="6052562" cy="62007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67CF83F-8A58-B391-97D0-43A1997FF5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622180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4E4CC39E-B1B5-FCB6-6659-5D26058B23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9401" y="624541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7B403FCC-7E24-CBB6-1D1F-A1ED4600697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5B857D0-B470-596C-AAE0-93958954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1E714AE8-2886-0EEF-1066-69DF4DEC3A6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677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48328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9" y="0"/>
            <a:ext cx="6052560" cy="48328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0C8050E3-F361-944C-BE50-EFF77A3D6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9A180FAF-30CE-E7AB-30D6-6D43F36A1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B666DEE-52CD-1687-2D2A-9FFB5BD8EF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0075" y="470832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4B823DD-62AA-199D-EEC2-293B8DD4C3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19401" y="473192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7DC1290E-FD91-B20A-C254-D11C4B39510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3C8F2C04-6A97-6750-AFC9-744593CB3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133C9E68-EA2D-ECDA-67A8-DFCD96E65B7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1"/>
            <a:ext cx="6052562" cy="306863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4876" y="3141663"/>
            <a:ext cx="6052562" cy="31312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91CDEAD5-412D-F5EA-8914-B4794955FD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59488" cy="3068637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6ACC7197-C8E8-63FE-AD8C-A40E45D644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141663"/>
            <a:ext cx="6059488" cy="313121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F1255A9-1E9B-5A7B-D15F-2D474DCBE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B9EE1F75-1F23-16EC-5D43-482221F3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A112CA0E-428D-DF23-9449-F5A6142A57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563" y="292257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A1B1C7EE-E382-8931-A2C1-D8E3488E07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2889" y="292257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3B38E4FD-0925-CE1F-AD64-1B87444B93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563" y="6065120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339AF-9263-5F51-BD15-6137B32A92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82889" y="6065120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B99DB100-4ADE-DDCD-A441-D111BFE4046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F6C98AA0-8460-76D3-FB96-C5AEBDBE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204D7FBA-41EE-C63E-8ED8-F601FC54B62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364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"/>
            <a:ext cx="3967312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-1"/>
            <a:ext cx="3971925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6200774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4B826CF3-F983-5709-34B9-7AE9597468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449DFB3-74B1-C997-8832-143EFFBB1A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3852BCED-4E33-7BED-A6A2-442A7E5239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764375C-2864-1439-60CF-7FB53C93D68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4581357-C596-2183-9C12-0294A9556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6FDE4607-8462-16C6-2460-7380727C12F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1775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0" y="5121800"/>
            <a:ext cx="364919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971925" cy="4879506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43363" y="1"/>
            <a:ext cx="4105275" cy="4879506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20075" y="5121800"/>
            <a:ext cx="357030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8BE11F0D-C809-CDCC-E3F6-760E343538D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6" y="4762"/>
            <a:ext cx="3971925" cy="487474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4D0B718-ACE2-8B4C-BF87-8EB0E49F1A2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43363" y="5121800"/>
            <a:ext cx="4105275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732AFF4B-BDEB-F3A6-78D3-DE527903E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55F3DC62-451B-E81A-AF82-C920A0BE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6168E1E-FA12-6FE2-75DD-69CC985D9D3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ADFFE34-BAA2-A157-8A3D-ADE418E6E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5FCDA693-32C4-3A71-EF78-2D51A02F7B7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3713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898800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1637CD5-E28C-648B-0F6D-C7F6C243FE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374174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13FEA776-FC23-8A82-332E-F111883826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374967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6D0F5F27-D684-6B9E-2B40-3A6FD220F7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374967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F0D78F0-3A35-DC0F-13AF-DDCC8364F5A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6C49B080-5952-5939-BCED-39873F2EC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956C0A8-94EF-1971-9DB6-9412EC0A4915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" y="3141663"/>
            <a:ext cx="3967312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4" y="3141663"/>
            <a:ext cx="4105274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8D7D88A-8A09-C089-0BAB-B3BC864809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12946" y="291404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7E6D0889-0731-C51D-C44C-531593F810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1421" y="292197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F92BD7CA-D3E2-9748-BB75-5BFA91E8F1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5" y="292197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E7A7438C-9FB1-6CEC-2C99-0E26DA32E0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904010FD-1367-93BF-91E8-FD9C4CAD22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E78B5D81-E9A7-12C5-3BE3-048CB35B30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625582C-E2CE-4CB9-C5B7-97F6D8E2550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5EC9F4A-80D0-3556-9768-6594F79BD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B268BB30-8968-69D2-8BCD-6BD08CC18FE9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10626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43364" y="0"/>
            <a:ext cx="4105274" cy="2024063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 b="1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097088"/>
            <a:ext cx="3967312" cy="201612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2104364"/>
            <a:ext cx="3971925" cy="2008849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3" y="2097088"/>
            <a:ext cx="410527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A9C6A3C4-3320-DBAD-6449-577813A358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20075" y="4193514"/>
            <a:ext cx="3971925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A951C7E1-F677-20C3-B4B9-04F24BD725C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43364" y="4193514"/>
            <a:ext cx="4105274" cy="200726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A36DC830-E652-67EB-7221-51667564347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4193514"/>
            <a:ext cx="3967312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D463DE6-DE06-CA24-2A55-66F3719DDE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Image9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2AA3E7A-871B-77E8-D8D1-BBCE2FF4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Image8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B2341C85-76A9-A5A9-FD6B-A5B66F6804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Image7 Caption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0A61CAA-5448-F241-EE8A-71D3C6996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2946" y="189069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03FEE3A4-D21B-A3A4-1E60-8FF441C2CA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01421" y="1898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8EE7FC61-A4F8-5EDB-567C-026D6115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325" y="1898619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EC9B4BB3-0AC8-CB6A-0651-28AFA9B82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12946" y="397215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AED12105-658F-7C14-3988-02AC050BC0E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01421" y="398008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99C5C520-AE34-DBDE-B7F1-E09712D722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398008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8F13E4ED-EDE8-B858-6FD6-6060CE9C86B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F6C8742F-3D7F-36A0-49CE-290C22620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7" name="Fußzeilenplatzhalter 4">
            <a:extLst>
              <a:ext uri="{FF2B5EF4-FFF2-40B4-BE49-F238E27FC236}">
                <a16:creationId xmlns:a16="http://schemas.microsoft.com/office/drawing/2014/main" id="{6C91AE3D-6B2D-8B6C-3FA3-8961ECB6B55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117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1064A685-1787-E222-0936-0ECC9DAC96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913" y="294387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0E5B9F04-221C-F4E3-FA2F-F4D807B82E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912" y="608394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5BAF5E9-36F7-B99A-C598-5A0F002047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550" y="607103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884AE5F7-0302-DE4D-AB96-ADACD438163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2C8F1BA-06A9-B241-62BB-654B380E6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AC1A2747-FA05-05FC-8092-6C7D2864167B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1617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4186237"/>
            <a:ext cx="3971925" cy="2024064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50DA5F5C-5CF8-4E3B-566D-A11A8DFA3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20075" y="2125662"/>
            <a:ext cx="3971925" cy="198755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C514E562-0D75-1014-1E46-BDD275EA72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5662" y="398845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12F31C5C-81A5-5274-2408-85B66E5B73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075" y="19138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ECF2D0BA-1555-2FA3-C80B-C74652FCB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8550" y="6052867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A82E454-E48A-0E3A-FB56-8E0996788A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1810" y="606151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4547D3D8-5DA7-75F1-114F-2A570FFB89E7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8DFF317-3C28-7FC6-0183-92F0F43B8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DECB4244-5280-DAAE-116B-67793141DC4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5134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0" i="0">
                <a:latin typeface="Gedau Gothic" panose="020B0504020202020204" pitchFamily="34" charset="77"/>
              </a:defRPr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 dirty="0"/>
              <a:t>Click icon to add table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87C7567-9852-AC07-197B-D1F89B07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004A5875-ABF8-1C76-A78A-93356442F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032B758D-D084-0032-6C01-2505E9DE40E4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635AD34-A015-8391-2F2A-74B17F490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AE6C142-85EF-E769-6C97-AB993BC968F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5" name="Grafik 4" descr="Ein Bild, das Text, Schrift, weiß, Screenshot enthält.  KI-generierte Inhalte können fehlerhaft sein.">
            <a:extLst>
              <a:ext uri="{FF2B5EF4-FFF2-40B4-BE49-F238E27FC236}">
                <a16:creationId xmlns:a16="http://schemas.microsoft.com/office/drawing/2014/main" id="{BAE770C7-19EC-7E5E-48D5-88FF73567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623B1B5-7F75-BB1F-8421-8A38B09E7F27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C6A4AF2-1749-391C-BC04-96071D0B4CEE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900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17" y="1412874"/>
            <a:ext cx="10764846" cy="47879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Mastertextformat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65" r:id="rId14"/>
    <p:sldLayoutId id="2147483667" r:id="rId15"/>
    <p:sldLayoutId id="2147483661" r:id="rId16"/>
    <p:sldLayoutId id="2147483666" r:id="rId17"/>
    <p:sldLayoutId id="2147483669" r:id="rId18"/>
    <p:sldLayoutId id="2147483670" r:id="rId19"/>
    <p:sldLayoutId id="2147483662" r:id="rId20"/>
    <p:sldLayoutId id="2147483668" r:id="rId21"/>
    <p:sldLayoutId id="2147483673" r:id="rId22"/>
    <p:sldLayoutId id="2147483671" r:id="rId23"/>
    <p:sldLayoutId id="2147483672" r:id="rId24"/>
    <p:sldLayoutId id="2147483663" r:id="rId25"/>
    <p:sldLayoutId id="2147483664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Gedau Gothic Book" panose="020B0504020202020204" pitchFamily="34" charset="77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38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817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orient="horz" pos="1275" userDrawn="1">
          <p15:clr>
            <a:srgbClr val="F26B43"/>
          </p15:clr>
        </p15:guide>
        <p15:guide id="13" orient="horz" pos="1321" userDrawn="1">
          <p15:clr>
            <a:srgbClr val="F26B43"/>
          </p15:clr>
        </p15:guide>
        <p15:guide id="14" orient="horz" pos="2591" userDrawn="1">
          <p15:clr>
            <a:srgbClr val="F26B43"/>
          </p15:clr>
        </p15:guide>
        <p15:guide id="15" orient="horz" pos="2614" userDrawn="1">
          <p15:clr>
            <a:srgbClr val="F26B43"/>
          </p15:clr>
        </p15:guide>
        <p15:guide id="16" orient="horz" pos="2636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  <p15:guide id="18" orient="horz" pos="618" userDrawn="1">
          <p15:clr>
            <a:srgbClr val="F26B43"/>
          </p15:clr>
        </p15:guide>
        <p15:guide id="19" orient="horz" pos="1933" userDrawn="1">
          <p15:clr>
            <a:srgbClr val="F26B43"/>
          </p15:clr>
        </p15:guide>
        <p15:guide id="20" orient="horz" pos="1956" userDrawn="1">
          <p15:clr>
            <a:srgbClr val="F26B43"/>
          </p15:clr>
        </p15:guide>
        <p15:guide id="21" orient="horz" pos="1979" userDrawn="1">
          <p15:clr>
            <a:srgbClr val="F26B43"/>
          </p15:clr>
        </p15:guide>
        <p15:guide id="22" pos="2502" userDrawn="1">
          <p15:clr>
            <a:srgbClr val="F26B43"/>
          </p15:clr>
        </p15:guide>
        <p15:guide id="23" pos="5178" userDrawn="1">
          <p15:clr>
            <a:srgbClr val="F26B43"/>
          </p15:clr>
        </p15:guide>
        <p15:guide id="24" pos="5155" userDrawn="1">
          <p15:clr>
            <a:srgbClr val="F26B43"/>
          </p15:clr>
        </p15:guide>
        <p15:guide id="25" pos="5133" userDrawn="1">
          <p15:clr>
            <a:srgbClr val="F26B43"/>
          </p15:clr>
        </p15:guide>
        <p15:guide id="26" pos="2525" userDrawn="1">
          <p15:clr>
            <a:srgbClr val="F26B43"/>
          </p15:clr>
        </p15:guide>
        <p15:guide id="27" pos="254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F9179-5F46-4028-8AD3-4988AB9A6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1709780" cy="3420000"/>
          </a:xfrm>
        </p:spPr>
        <p:txBody>
          <a:bodyPr/>
          <a:lstStyle/>
          <a:p>
            <a:r>
              <a:rPr lang="de-DE" dirty="0"/>
              <a:t>Pathfinder Workshop</a:t>
            </a:r>
            <a:br>
              <a:rPr lang="de-DE" dirty="0"/>
            </a:br>
            <a:r>
              <a:rPr lang="de-DE" dirty="0"/>
              <a:t>Interaktive Systeme mit KI und ESP32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www.github.com</a:t>
            </a:r>
            <a:r>
              <a:rPr lang="de-DE" dirty="0"/>
              <a:t>/</a:t>
            </a:r>
            <a:r>
              <a:rPr lang="de-DE" dirty="0" err="1"/>
              <a:t>archilab</a:t>
            </a:r>
            <a:r>
              <a:rPr lang="de-DE" dirty="0"/>
              <a:t>/</a:t>
            </a:r>
            <a:r>
              <a:rPr lang="de-DE" dirty="0" err="1"/>
              <a:t>pathfinder_workshop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53DF2A-2730-487C-8E19-2CA6CA915E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736501"/>
            <a:ext cx="8640000" cy="1008000"/>
          </a:xfrm>
        </p:spPr>
        <p:txBody>
          <a:bodyPr/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Prof. Stefan Neudecker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Design by Technology | Industrialdesign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Sommersemester 2026, Folkwang Universität der Künste</a:t>
            </a:r>
            <a:endParaRPr lang="de-CH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11614" y="316800"/>
            <a:ext cx="5248549" cy="360000"/>
          </a:xfrm>
        </p:spPr>
        <p:txBody>
          <a:bodyPr/>
          <a:lstStyle/>
          <a:p>
            <a:pPr marL="0" indent="0" algn="r">
              <a:buNone/>
            </a:pPr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8270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01 — Der Paradigmenwechsel</a:t>
            </a:r>
          </a:p>
          <a:p>
            <a:pPr marL="0" indent="0">
              <a:buNone/>
            </a:pPr>
            <a:r>
              <a:rPr lang="de-DE" dirty="0"/>
              <a:t>02 — Hardware &amp; Konzept</a:t>
            </a:r>
          </a:p>
          <a:p>
            <a:pPr marL="0" indent="0">
              <a:buNone/>
            </a:pPr>
            <a:r>
              <a:rPr lang="de-DE" dirty="0"/>
              <a:t>03 — Das Custom GPT</a:t>
            </a:r>
          </a:p>
          <a:p>
            <a:pPr marL="0" indent="0">
              <a:buNone/>
            </a:pPr>
            <a:r>
              <a:rPr lang="de-DE" dirty="0"/>
              <a:t>04 — Eigenen GPT bauen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986" y="6510646"/>
            <a:ext cx="4592521" cy="216000"/>
          </a:xfrm>
        </p:spPr>
        <p:txBody>
          <a:bodyPr/>
          <a:lstStyle/>
          <a:p>
            <a:r>
              <a:rPr lang="de-DE" noProof="0" dirty="0"/>
              <a:t>Design </a:t>
            </a:r>
            <a:r>
              <a:rPr lang="de-DE" noProof="0" dirty="0" err="1"/>
              <a:t>by</a:t>
            </a:r>
            <a:r>
              <a:rPr lang="de-DE" noProof="0" dirty="0"/>
              <a:t> Technology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91591-7F03-49A8-92D7-21DE745F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Bildplatzhalter 8" descr="Ein Bild, das Elektronik, Elektrisches Bauelement, Elektronisches Bauteil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D9973EE2-7CB1-C84C-1566-C338AD8AD8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41" b="11841"/>
          <a:stretch>
            <a:fillRect/>
          </a:stretch>
        </p:blipFill>
        <p:spPr>
          <a:prstGeom prst="rect">
            <a:avLst/>
          </a:prstGeom>
          <a:solidFill>
            <a:srgbClr val="9B8357">
              <a:lumMod val="20000"/>
              <a:lumOff val="80000"/>
            </a:srgbClr>
          </a:solidFill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B531D5-BC39-F7FB-3B3D-C81B5CE6B92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15.04.26</a:t>
            </a:fld>
            <a:endParaRPr lang="de-CH" sz="10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F67C01-52BE-B1D6-863E-E87A32A92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</a:t>
            </a:fld>
            <a:endParaRPr lang="de-CH" sz="1000" dirty="0"/>
          </a:p>
        </p:txBody>
      </p:sp>
    </p:spTree>
    <p:extLst>
      <p:ext uri="{BB962C8B-B14F-4D97-AF65-F5344CB8AC3E}">
        <p14:creationId xmlns:p14="http://schemas.microsoft.com/office/powerpoint/2010/main" val="246559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01</a:t>
            </a:r>
            <a:br>
              <a:rPr lang="de-DE" dirty="0"/>
            </a:br>
            <a:r>
              <a:rPr lang="de-DE" dirty="0"/>
              <a:t>Der Paradigmenwechsel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verändert sich Entwicklung gerade jetzt?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Von “Code schreiben” zu “Ideen beschreiben”</a:t>
            </a:r>
          </a:p>
          <a:p>
            <a:pPr marL="0" indent="0">
              <a:buNone/>
            </a:pPr>
            <a:r>
              <a:rPr lang="de-DE" dirty="0"/>
              <a:t>Interaktive Systeme entstanden lange durch Handwerk: Sensor anschließen, Bibliotheken</a:t>
            </a:r>
          </a:p>
          <a:p>
            <a:pPr marL="0" indent="0">
              <a:buNone/>
            </a:pPr>
            <a:r>
              <a:rPr lang="de-DE" dirty="0"/>
              <a:t>verstehen, Code schreiben, debuggen — und das für jede Idee von Neuem.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Generative KI verändert dieses Modell grundlegend: Sie übernimmt die technische</a:t>
            </a:r>
          </a:p>
          <a:p>
            <a:pPr marL="0" indent="0">
              <a:buNone/>
            </a:pPr>
            <a:r>
              <a:rPr lang="de-DE" dirty="0"/>
              <a:t>Übersetzungsarbeit. Die kreative Frage bleibt beim Menschen.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Nicht mehr “Wie schreibe ich das?” — sondern “Was will ich eigentlich erreichen?”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Post-Code: KI als Entwicklungspartner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Das Paradigma des beschreibenden Entwickelns</a:t>
            </a:r>
          </a:p>
          <a:p>
            <a:pPr marL="0" indent="0">
              <a:buNone/>
            </a:pPr>
            <a:r>
              <a:rPr lang="de-DE" dirty="0"/>
              <a:t>“Post-Code” beschreibt eine Arbeitsweise, in der Ideen in natürlicher Sprache</a:t>
            </a:r>
          </a:p>
          <a:p>
            <a:pPr marL="0" indent="0">
              <a:buNone/>
            </a:pPr>
            <a:r>
              <a:rPr lang="de-DE" dirty="0"/>
              <a:t>formuliert werden — und KI-Systeme die Übersetzung in lauffähigen Code übernehmen.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Das bedeutet nicht, dass Programmierung irrelevant wird. Es bedeutet, dass der Einstieg</a:t>
            </a:r>
          </a:p>
          <a:p>
            <a:pPr marL="0" indent="0">
              <a:buNone/>
            </a:pPr>
            <a:r>
              <a:rPr lang="de-DE" dirty="0"/>
              <a:t>niedriger wird und der kreative Fokus an anderer Stelle liegt.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Vergleichbar mit dem Übergang von Handlettering zu Schriftsatz — oder von</a:t>
            </a:r>
          </a:p>
          <a:p>
            <a:pPr marL="0" indent="0">
              <a:buNone/>
            </a:pPr>
            <a:r>
              <a:rPr lang="de-DE" dirty="0"/>
              <a:t>Dunkelkammer zu Lightroom.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Embodied AI: Wenn KI den Raum betritt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Physical Computing als künstlerisches Medium</a:t>
            </a:r>
          </a:p>
          <a:p>
            <a:pPr marL="0" indent="0">
              <a:buNone/>
            </a:pPr>
            <a:r>
              <a:rPr lang="de-DE" dirty="0"/>
              <a:t>Physical Computing verbindet digitale Logik mit physischer Welt: Sensoren lesen Bewegung,</a:t>
            </a:r>
          </a:p>
          <a:p>
            <a:pPr marL="0" indent="0">
              <a:buNone/>
            </a:pPr>
            <a:r>
              <a:rPr lang="de-DE" dirty="0"/>
              <a:t>Licht, Gesten — Aktoren reagieren mit Sound, Licht, Mechanik.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KI macht dieses Medium heute für Künstler:innen ohne Programmierhintergrund zugänglich.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Die Fragen bleiben: Was soll das Objekt wahrnehmen? Wie soll es reagieren?</a:t>
            </a:r>
          </a:p>
          <a:p>
            <a:pPr marL="0" indent="0">
              <a:buNone/>
            </a:pPr>
            <a:r>
              <a:rPr lang="de-DE" dirty="0"/>
              <a:t>Welche Interaktion entsteht? KI unterstützt bei der technischen Umsetzung dieser Fragen.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02</a:t>
            </a:r>
            <a:br>
              <a:rPr lang="de-DE" dirty="0"/>
            </a:br>
            <a:r>
              <a:rPr lang="de-DE" dirty="0"/>
              <a:t>Hardware &amp; Konzept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8" descr="Ein Bild, das Elektronik, Elektrische Leitungen, Elektrisches Bauelement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C5695578-589C-7BD3-1269-92ACB45C8E9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4" r="13134"/>
          <a:stretch>
            <a:fillRect/>
          </a:stretch>
        </p:blipFill>
        <p:spPr>
          <a:xfrm>
            <a:off x="1" y="0"/>
            <a:ext cx="6095999" cy="6200774"/>
          </a:xfrm>
          <a:prstGeom prst="rect">
            <a:avLst/>
          </a:prstGeom>
          <a:solidFill>
            <a:srgbClr val="9B8357">
              <a:lumMod val="20000"/>
              <a:lumOff val="80000"/>
            </a:srgbClr>
          </a:solidFill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CD79B13-3C6D-410C-8179-6B349071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Toolkit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C6779-ACCD-4204-B972-A9B259545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Microcontroller</a:t>
            </a:r>
          </a:p>
          <a:p>
            <a:pPr marL="0" indent="0">
              <a:buNone/>
            </a:pPr>
            <a:r>
              <a:rPr lang="de-DE" dirty="0"/>
              <a:t>ESP32-PICO-KIT — WLAN + Bluetooth, 240 MHz, 4 MB Flash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Sensoren</a:t>
            </a:r>
          </a:p>
          <a:p>
            <a:pPr marL="0" indent="0">
              <a:buNone/>
            </a:pPr>
            <a:r>
              <a:rPr lang="de-DE" dirty="0"/>
              <a:t>APDS9960 — Gestenerkennung, Farbe, Nähe</a:t>
            </a:r>
          </a:p>
          <a:p>
            <a:pPr marL="0" indent="0">
              <a:buNone/>
            </a:pPr>
            <a:r>
              <a:rPr lang="de-DE" dirty="0"/>
              <a:t>MPU6050 — 6-Achsen Beschleunigung &amp; Gyro</a:t>
            </a:r>
          </a:p>
          <a:p>
            <a:pPr marL="0" indent="0">
              <a:buNone/>
            </a:pPr>
            <a:r>
              <a:rPr lang="de-DE" dirty="0"/>
              <a:t>Taster (GPIO 0)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Aktoren</a:t>
            </a:r>
          </a:p>
          <a:p>
            <a:pPr marL="0" indent="0">
              <a:buNone/>
            </a:pPr>
            <a:r>
              <a:rPr lang="de-DE" dirty="0"/>
              <a:t>NeoPixel-Strip — RGB-LEDs (GPIO 14)</a:t>
            </a:r>
          </a:p>
          <a:p>
            <a:pPr marL="0" indent="0">
              <a:buNone/>
            </a:pPr>
            <a:r>
              <a:rPr lang="de-DE" dirty="0"/>
              <a:t>Servo-Motor (GPIO 12)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F6FD95-BB89-40C0-BC74-30458C4F3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Technology.        </a:t>
            </a:r>
            <a:r>
              <a:rPr lang="de-DE" dirty="0" err="1"/>
              <a:t>PathFinder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61EB33-26DA-4BFB-9717-A85E7FB5C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3883C902-160B-4538-99A8-1486892643D4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2CD38D-E3F5-46D6-96B1-4BEB06DA8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32817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49A25-6D4B-7449-BE95-B4A91BD89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E8254D-FA03-C106-4705-B6A978630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 anchor="ctr">
            <a:normAutofit/>
          </a:bodyPr>
          <a:lstStyle/>
          <a:p>
            <a:pPr marL="95250">
              <a:spcAft>
                <a:spcPts val="600"/>
              </a:spcAft>
            </a:pPr>
            <a:fld id="{4A358CF3-A22A-46C1-A4E5-5810212466EF}" type="datetime1">
              <a:rPr lang="de-CH" smtClean="0"/>
              <a:pPr marL="95250">
                <a:spcAft>
                  <a:spcPts val="600"/>
                </a:spcAft>
              </a:pPr>
              <a:t>15.04.26</a:t>
            </a:fld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2758DA-C053-3D75-1C16-EADD2235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smtClean="0"/>
              <a:pPr>
                <a:spcAft>
                  <a:spcPts val="600"/>
                </a:spcAft>
              </a:pPr>
              <a:t>10</a:t>
            </a:fld>
            <a:endParaRPr lang="de-CH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4CC96F1F-52FD-AA44-2189-45CED5906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Technology.        </a:t>
            </a:r>
            <a:r>
              <a:rPr lang="de-DE" dirty="0" err="1"/>
              <a:t>PathFinder</a:t>
            </a:r>
            <a:endParaRPr lang="de-CH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68C0CE-F5CA-3DA7-1646-3EEAD988E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323" y="-147461"/>
            <a:ext cx="9676262" cy="643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8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3D43-7EC4-C59A-27D5-EC0B0A4A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EA75D8-CF29-76B9-2ACE-F5DBB17E9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 anchor="ctr">
            <a:normAutofit/>
          </a:bodyPr>
          <a:lstStyle/>
          <a:p>
            <a:pPr marL="95250">
              <a:spcAft>
                <a:spcPts val="600"/>
              </a:spcAft>
            </a:pPr>
            <a:fld id="{4A358CF3-A22A-46C1-A4E5-5810212466EF}" type="datetime1">
              <a:rPr lang="de-CH" smtClean="0"/>
              <a:pPr marL="95250">
                <a:spcAft>
                  <a:spcPts val="600"/>
                </a:spcAft>
              </a:pPr>
              <a:t>15.04.26</a:t>
            </a:fld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ACBEF9-50CD-8F0D-C5E8-441985BAD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smtClean="0"/>
              <a:pPr>
                <a:spcAft>
                  <a:spcPts val="600"/>
                </a:spcAft>
              </a:pPr>
              <a:t>11</a:t>
            </a:fld>
            <a:endParaRPr lang="de-CH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CB3A9C86-8010-8C86-0B67-E532D25A2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Technology.        </a:t>
            </a:r>
            <a:r>
              <a:rPr lang="de-DE" dirty="0" err="1"/>
              <a:t>PathFinder</a:t>
            </a:r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3D20FDD-92A4-8683-8D17-6D4CEAFEB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6454" y="-350767"/>
            <a:ext cx="9621678" cy="659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94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PairLink: Das Vernetzungssystem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Sensor → 0.0 bis 1.0 → Aktor</a:t>
            </a:r>
          </a:p>
          <a:p>
            <a:pPr marL="0" indent="0">
              <a:buNone/>
            </a:pPr>
            <a:r>
              <a:rPr lang="de-DE" dirty="0"/>
              <a:t>PairLink ist eine WebSocket-Bibliothek für den ESP32. Sie ermöglicht die bidirektionale</a:t>
            </a:r>
          </a:p>
          <a:p>
            <a:pPr marL="0" indent="0">
              <a:buNone/>
            </a:pPr>
            <a:r>
              <a:rPr lang="de-DE" dirty="0"/>
              <a:t>Übertragung von Werten zwischen Controller und Anwendung über ein lokales Netzwerk.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Alle Sensorwerte werden auf einen einzigen Kanal normiert: sensor.value (Float 0.0 — 1.0).</a:t>
            </a:r>
          </a:p>
          <a:p>
            <a:pPr marL="0" indent="0">
              <a:buNone/>
            </a:pPr>
            <a:r>
              <a:rPr lang="de-DE" dirty="0"/>
              <a:t>Eine Geste, ein Bewegungswert, ein Tasterklick — alles wird zur gleichen Zahl.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Das macht den Code vorhersehbar, testbar und für GPT optimal generierbar.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F9D96-1AFA-40BA-BAE5-8D745FEC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3-Schritt-Workflow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0C9CD-6F3E-4243-AF8B-598CBE0FF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Schritt 1 — GPT-Anfrage</a:t>
            </a:r>
          </a:p>
          <a:p>
            <a:pPr marL="0" indent="0">
              <a:buNone/>
            </a:pPr>
            <a:r>
              <a:rPr lang="de-DE" dirty="0"/>
              <a:t>Idee als Prompt formulieren — der Custom GPT generiert direkt ausführbaren Code.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Schritt 2 — PlatformIO</a:t>
            </a:r>
          </a:p>
          <a:p>
            <a:pPr marL="0" indent="0">
              <a:buNone/>
            </a:pPr>
            <a:r>
              <a:rPr lang="de-DE" dirty="0"/>
              <a:t>Code in src/main.cpp einfügen, Board pico32 auswählen, kompilieren.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Schritt 3 — Deployen</a:t>
            </a:r>
          </a:p>
          <a:p>
            <a:pPr marL="0" indent="0">
              <a:buNone/>
            </a:pPr>
            <a:r>
              <a:rPr lang="de-DE" dirty="0"/>
              <a:t>Code per USB auf den Controller übertragen — die Installation ist sofort live.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00522-08D1-4C97-AE24-545093D71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DECAF-74B9-42C9-91F9-16811C11D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255C2D81-634A-41B2-966F-5B8C1282A848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390BB4-CA1A-4AB3-997F-BC93DE23C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63831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03</a:t>
            </a:r>
            <a:br>
              <a:rPr lang="de-DE" dirty="0"/>
            </a:br>
            <a:r>
              <a:rPr lang="de-DE" dirty="0"/>
              <a:t>Das Custom GPT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 Custom GPT?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Ein KI-Assistent mit Persönlichkeit und Regeln</a:t>
            </a:r>
          </a:p>
          <a:p>
            <a:pPr marL="0" indent="0">
              <a:buNone/>
            </a:pPr>
            <a:r>
              <a:rPr lang="de-DE" dirty="0"/>
              <a:t>Custom GPTs sind spezialisierte Versionen von ChatGPT — vorkonfiguriert mit einem</a:t>
            </a:r>
          </a:p>
          <a:p>
            <a:pPr marL="0" indent="0">
              <a:buNone/>
            </a:pPr>
            <a:r>
              <a:rPr lang="de-DE" dirty="0"/>
              <a:t>System Prompt, der das Verhalten, Wissen und die Grenzen des Assistenten definiert.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Der FOLWANG-PairLink-Starter ist speziell auf den Pathfinder Workshop zugeschnitten:</a:t>
            </a:r>
          </a:p>
          <a:p>
            <a:pPr marL="0" indent="0">
              <a:buNone/>
            </a:pPr>
            <a:r>
              <a:rPr lang="de-DE" dirty="0"/>
              <a:t>Er kennt die Hardware, die Bibliotheken, die Pinbelegung und den Workflow.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Er beantwortet keine Fragen zu anderen Boards oder framefremden Libraries —</a:t>
            </a:r>
          </a:p>
          <a:p>
            <a:pPr marL="0" indent="0">
              <a:buNone/>
            </a:pPr>
            <a:r>
              <a:rPr lang="de-DE" dirty="0"/>
              <a:t>und generiert nur Code, der auf dem ESP32-PICO-KIT direkt funktioniert.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C67D2E-7487-43A9-B734-0DEEE96D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5" y="2097088"/>
            <a:ext cx="10728327" cy="2124401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Live-Demo: GPT → Code → Controller</a:t>
            </a:r>
          </a:p>
          <a:p>
            <a:pPr marL="0" indent="0">
              <a:buNone/>
            </a:pPr>
            <a:r>
              <a:rPr lang="de-DE" dirty="0"/>
              <a:t>Prompt eingeben — generierten Code kopieren</a:t>
            </a:r>
          </a:p>
          <a:p>
            <a:pPr marL="0" indent="0">
              <a:buNone/>
            </a:pPr>
            <a:r>
              <a:rPr lang="de-DE" dirty="0"/>
              <a:t>In PlatformIO einfügen — auf Board flashen</a:t>
            </a:r>
          </a:p>
          <a:p>
            <a:pPr marL="0" indent="0">
              <a:buNone/>
            </a:pPr>
            <a:r>
              <a:rPr lang="de-DE" dirty="0"/>
              <a:t>Sensor bewegen — LED oder Servo reagiert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DD72CB-F104-4DE7-8E0E-740091A20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C346C403-2363-42FC-8982-6D08D86AEC82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85790D-0071-457D-86B5-CFCB0B92A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AFE0E341-8911-1EEF-68AE-B6CA70F83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1609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- Folientitel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32210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Was der GPT generiert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Drei Workshop-Szenarien</a:t>
            </a:r>
          </a:p>
          <a:p>
            <a:pPr marL="0" indent="0">
              <a:buNone/>
            </a:pPr>
            <a:r>
              <a:rPr lang="de-DE" dirty="0"/>
              <a:t>Gestensteuerung — APDS9960 erkennt Links/Rechts/Auf/Ab und steuert NeoPixel-Farben.</a:t>
            </a:r>
          </a:p>
          <a:p>
            <a:pPr marL="0" indent="0">
              <a:buNone/>
            </a:pPr>
            <a:r>
              <a:rPr lang="de-DE" dirty="0"/>
              <a:t>Prompt: “Geste links = rot, rechts = blau, auf = grün, ab = aus”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Bewegungsreaktion — MPU6050 misst Beschleunigung, Servo folgt der Neigung.</a:t>
            </a:r>
          </a:p>
          <a:p>
            <a:pPr marL="0" indent="0">
              <a:buNone/>
            </a:pPr>
            <a:r>
              <a:rPr lang="de-DE" dirty="0"/>
              <a:t>Prompt: “Neigung nach vorne dreht Servo proportional zum Winkel”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Interaktive Installation — Taster triggert animierte NeoPixel-Sequenz.</a:t>
            </a:r>
          </a:p>
          <a:p>
            <a:pPr marL="0" indent="0">
              <a:buNone/>
            </a:pPr>
            <a:r>
              <a:rPr lang="de-DE" dirty="0"/>
              <a:t>Prompt: “Bei Tastendruck: Regenbogeneffekt, 3 Sekunden lang”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04</a:t>
            </a:r>
            <a:br>
              <a:rPr lang="de-DE" dirty="0"/>
            </a:br>
            <a:r>
              <a:rPr lang="de-DE" dirty="0"/>
              <a:t>Eigenen GPT bauen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Den System Prompt verstehen und anpassen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Was steckt hinter dem Custom GPT?</a:t>
            </a:r>
          </a:p>
          <a:p>
            <a:pPr marL="0" indent="0">
              <a:buNone/>
            </a:pPr>
            <a:r>
              <a:rPr lang="de-DE" dirty="0"/>
              <a:t>Der System Prompt ist die “DNA” eines Custom GPT. Er legt fest: Welche Hardware wird</a:t>
            </a:r>
          </a:p>
          <a:p>
            <a:pPr marL="0" indent="0">
              <a:buNone/>
            </a:pPr>
            <a:r>
              <a:rPr lang="de-DE" dirty="0"/>
              <a:t>unterstützt? Welche Libraries sind erlaubt? Wie soll der Code strukturiert sein?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Im GitHub-Repository ist der vollständige System Prompt veröffentlicht und erklärt.</a:t>
            </a:r>
          </a:p>
          <a:p>
            <a:pPr marL="0" indent="0">
              <a:buNone/>
            </a:pPr>
            <a:r>
              <a:rPr lang="de-DE" dirty="0"/>
              <a:t>Du kannst ihn kopieren und für deinen eigenen Workshop oder dein Projekt anpassen.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Eigene GPTs lassen sich über ChatGPT Plus erstellen: System Prompt einfügen,</a:t>
            </a:r>
          </a:p>
          <a:p>
            <a:pPr marL="0" indent="0">
              <a:buNone/>
            </a:pPr>
            <a:r>
              <a:rPr lang="de-DE" dirty="0"/>
              <a:t>GPT-Dataset als Wissensbasis hochladen — fertig ist der spezialisierte Assistent.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F9D96-1AFA-40BA-BAE5-8D745FEC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0C9CD-6F3E-4243-AF8B-598CBE0FF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Setup &amp; Installation</a:t>
            </a:r>
          </a:p>
          <a:p>
            <a:pPr marL="0" indent="0">
              <a:buNone/>
            </a:pPr>
            <a:r>
              <a:rPr lang="de-DE" dirty="0"/>
              <a:t>VS Code + PlatformIO installieren — Schritt-für-Schritt im GitHub-Repo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Erste Verbindung</a:t>
            </a:r>
          </a:p>
          <a:p>
            <a:pPr marL="0" indent="0">
              <a:buNone/>
            </a:pPr>
            <a:r>
              <a:rPr lang="de-DE" dirty="0"/>
              <a:t>“Blink”-Beispiel deployen und Sensor-Kanal testen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GitHub Repository</a:t>
            </a:r>
          </a:p>
          <a:p>
            <a:pPr marL="0" indent="0">
              <a:buNone/>
            </a:pPr>
            <a:r>
              <a:rPr lang="de-DE" dirty="0"/>
              <a:t>github.com/archilab/pathfinder-workshop — Dokumentation, Beispiele, GPT-Dataset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00522-08D1-4C97-AE24-545093D71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DECAF-74B9-42C9-91F9-16811C11D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255C2D81-634A-41B2-966F-5B8C1282A848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390BB4-CA1A-4AB3-997F-BC93DE23C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63831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1"/>
            <a:ext cx="10728325" cy="4146575"/>
          </a:xfrm>
        </p:spPr>
        <p:txBody>
          <a:bodyPr/>
          <a:lstStyle/>
          <a:p>
            <a:r>
              <a:rPr lang="de-DE" dirty="0"/>
              <a:t>Author</a:t>
            </a:r>
          </a:p>
          <a:p>
            <a:r>
              <a:rPr lang="de-DE" dirty="0"/>
              <a:t>Prof. Stefan Neudecker</a:t>
            </a:r>
          </a:p>
          <a:p>
            <a:r>
              <a:rPr lang="de-DE" u="sng" dirty="0" err="1">
                <a:solidFill>
                  <a:schemeClr val="accent2"/>
                </a:solidFill>
              </a:rPr>
              <a:t>stefan.neudecker@folkwang-uni.de</a:t>
            </a:r>
            <a:endParaRPr lang="de-DE" u="sng" dirty="0">
              <a:solidFill>
                <a:schemeClr val="accent2"/>
              </a:solidFill>
            </a:endParaRPr>
          </a:p>
          <a:p>
            <a:endParaRPr lang="de-DE" dirty="0"/>
          </a:p>
          <a:p>
            <a:r>
              <a:rPr lang="de-DE" dirty="0"/>
              <a:t>Folkwang Universität der Künste</a:t>
            </a:r>
          </a:p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</a:t>
            </a:r>
            <a:r>
              <a:rPr lang="de-DE" dirty="0" err="1"/>
              <a:t>Industrialdesign</a:t>
            </a:r>
            <a:endParaRPr lang="de-DE" dirty="0"/>
          </a:p>
          <a:p>
            <a:r>
              <a:rPr lang="de-DE" dirty="0"/>
              <a:t>Martin </a:t>
            </a:r>
            <a:r>
              <a:rPr lang="de-DE" dirty="0" err="1"/>
              <a:t>Kremmer</a:t>
            </a:r>
            <a:r>
              <a:rPr lang="de-DE" dirty="0"/>
              <a:t> Straße 21</a:t>
            </a:r>
          </a:p>
          <a:p>
            <a:r>
              <a:rPr lang="de-DE" dirty="0"/>
              <a:t>45237 Essen</a:t>
            </a:r>
          </a:p>
          <a:p>
            <a:endParaRPr lang="de-CH" dirty="0"/>
          </a:p>
          <a:p>
            <a:r>
              <a:rPr lang="de-CH" u="sng" dirty="0">
                <a:solidFill>
                  <a:schemeClr val="accent2"/>
                </a:solidFill>
              </a:rPr>
              <a:t>https://</a:t>
            </a:r>
            <a:r>
              <a:rPr lang="de-CH" u="sng" dirty="0" err="1">
                <a:solidFill>
                  <a:schemeClr val="accent2"/>
                </a:solidFill>
              </a:rPr>
              <a:t>gestaltung.folkwang-uni.de</a:t>
            </a:r>
            <a:endParaRPr lang="de-DE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965</Words>
  <Application>Microsoft Macintosh PowerPoint</Application>
  <PresentationFormat>Breitbild</PresentationFormat>
  <Paragraphs>180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Arial</vt:lpstr>
      <vt:lpstr>Gedau Gothic</vt:lpstr>
      <vt:lpstr>Gedau Gothic Book</vt:lpstr>
      <vt:lpstr>Gedau Gothic Light</vt:lpstr>
      <vt:lpstr>Gedau Gothic Medium</vt:lpstr>
      <vt:lpstr>Symbol</vt:lpstr>
      <vt:lpstr>ETH Zürich</vt:lpstr>
      <vt:lpstr>Pathfinder Workshop Interaktive Systeme mit KI und ESP32  www.github.com/archilab/pathfinder_workshop</vt:lpstr>
      <vt:lpstr>Inhalt</vt:lpstr>
      <vt:lpstr>PowerPoint-Präsentation</vt:lpstr>
      <vt:lpstr>01 Der Paradigmenwechsel</vt:lpstr>
      <vt:lpstr>Warum verändert sich Entwicklung gerade jetzt?</vt:lpstr>
      <vt:lpstr>Post-Code: KI als Entwicklungspartner</vt:lpstr>
      <vt:lpstr>Embodied AI: Wenn KI den Raum betritt</vt:lpstr>
      <vt:lpstr>02 Hardware &amp; Konzept</vt:lpstr>
      <vt:lpstr>Das Toolkit</vt:lpstr>
      <vt:lpstr>PowerPoint-Präsentation</vt:lpstr>
      <vt:lpstr>PowerPoint-Präsentation</vt:lpstr>
      <vt:lpstr>PairLink: Das Vernetzungssystem</vt:lpstr>
      <vt:lpstr>Der 3-Schritt-Workflow</vt:lpstr>
      <vt:lpstr>03 Das Custom GPT</vt:lpstr>
      <vt:lpstr>Was ist ein Custom GPT?</vt:lpstr>
      <vt:lpstr>PowerPoint-Präsentation</vt:lpstr>
      <vt:lpstr>Beispiele: Was der GPT generiert</vt:lpstr>
      <vt:lpstr>04 Eigenen GPT bauen</vt:lpstr>
      <vt:lpstr>Den System Prompt verstehen und anpassen</vt:lpstr>
      <vt:lpstr>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 der Präsentation</dc:title>
  <dc:creator>Patrick Scherer</dc:creator>
  <cp:lastModifiedBy>Stefan Neudecker</cp:lastModifiedBy>
  <cp:revision>17</cp:revision>
  <dcterms:created xsi:type="dcterms:W3CDTF">2023-05-25T11:33:24Z</dcterms:created>
  <dcterms:modified xsi:type="dcterms:W3CDTF">2026-04-15T07:57:44Z</dcterms:modified>
</cp:coreProperties>
</file>